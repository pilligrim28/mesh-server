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MESH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</a:defRPr>
            </a:pPr>
            <a:r>
              <a:t>Сервер мониторинга устройств Meshtastic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B35"/>
                </a:solidFill>
              </a:defRPr>
            </a:pPr>
            <a:r>
              <a:t>LoRa mesh-сети  |  ESP32  |  MQTT  |  Web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Нет единого решения для мониторинга mesh-устройств LoRa</a:t>
            </a: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Сложная интеграция ESP32 с серверной логикой</a:t>
            </a: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Отсутствие визуализации данных с носимых датчиков</a:t>
            </a: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Нет возможности обнаруживать устройства автоматически</a:t>
            </a: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Сложно организовать связь в полевых условиях без интернета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53"/>
                </a:solidFill>
              </a:defRPr>
            </a:pPr>
            <a:r>
              <a:t>Решение — Mesh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Единая платформа для мониторинга и управления сетью</a:t>
            </a: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Встроенный веб-интерфейс с картой и метриками</a:t>
            </a: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Автоматическое обнаружение ESP32 через Bluetooth и WiFi</a:t>
            </a: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MQTT-интеграция с глобальной сетью Meshtastic</a:t>
            </a:r>
          </a:p>
          <a:p>
            <a:pPr>
              <a:spcBef>
                <a:spcPts val="400"/>
              </a:spcBef>
              <a:defRPr sz="2000">
                <a:solidFill>
                  <a:srgbClr val="FFFFFF"/>
                </a:solidFill>
              </a:defRPr>
            </a:pPr>
            <a:r>
              <a:t>  Работает без интернета — только LoRa mesh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t>Возможности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28600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</a:defRPr>
            </a:pPr>
            <a:r>
              <a:t>Карта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GPS-координаты</a:t>
            </a:r>
            <a:br/>
            <a:r>
              <a:t>всех устройств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828800"/>
            <a:ext cx="228600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853"/>
                </a:solidFill>
              </a:defRPr>
            </a:pPr>
            <a:r>
              <a:t>Здоровье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Пульс, CO2,</a:t>
            </a:r>
            <a:br/>
            <a:r>
              <a:t>Температура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228600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444"/>
                </a:solidFill>
              </a:defRPr>
            </a:pPr>
            <a:r>
              <a:t>Алерты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Выход за зону,</a:t>
            </a:r>
            <a:br/>
            <a:r>
              <a:t>Низкий заряд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828800"/>
            <a:ext cx="2286000" cy="22860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</a:defRPr>
            </a:pPr>
            <a:r>
              <a:t>Сообщения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LoRa mesh</a:t>
            </a:r>
            <a:br/>
            <a:r>
              <a:t>и MQTT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389120"/>
            <a:ext cx="2286000" cy="2011680"/>
          </a:xfrm>
          <a:prstGeom prst="rect">
            <a:avLst/>
          </a:prstGeom>
          <a:solidFill>
            <a:srgbClr val="16213E"/>
          </a:solidFill>
          <a:ln w="25400">
            <a:solidFill>
              <a:srgbClr val="AA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A66FF"/>
                </a:solidFill>
              </a:defRPr>
            </a:pPr>
            <a:r>
              <a:t>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Bluetooth</a:t>
            </a:r>
            <a:br/>
            <a:r>
              <a:t>и WiFi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389120"/>
            <a:ext cx="2286000" cy="2011680"/>
          </a:xfrm>
          <a:prstGeom prst="rect">
            <a:avLst/>
          </a:prstGeom>
          <a:solidFill>
            <a:srgbClr val="16213E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5720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A00"/>
                </a:solidFill>
              </a:defRPr>
            </a:pPr>
            <a:r>
              <a:t>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1206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Аномалии и</a:t>
            </a:r>
            <a:br/>
            <a:r>
              <a:t>Предсказания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389120"/>
            <a:ext cx="2286000" cy="2011680"/>
          </a:xfrm>
          <a:prstGeom prst="rect">
            <a:avLst/>
          </a:prstGeom>
          <a:solidFill>
            <a:srgbClr val="16213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5720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</a:defRPr>
            </a:pPr>
            <a:r>
              <a:t>WebSocket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206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Realtime</a:t>
            </a:r>
            <a:br/>
            <a:r>
              <a:t>обновления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389120"/>
            <a:ext cx="2286000" cy="2011680"/>
          </a:xfrm>
          <a:prstGeom prst="rect">
            <a:avLst/>
          </a:prstGeom>
          <a:solidFill>
            <a:srgbClr val="16213E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5720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853"/>
                </a:solidFill>
              </a:defRPr>
            </a:pPr>
            <a:r>
              <a:t>Симулятор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1206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Тестовые</a:t>
            </a:r>
            <a:br/>
            <a:r>
              <a:t>данные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t>Технические характеристики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Язык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Go 1.25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База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SQLite (pure-Go)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Протоколы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HTTP REST, WebSocket, MQTT, BLE, USB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66159"/>
            <a:ext cx="100584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6575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Платформы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575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Windows, macOS, Linux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Интерфейсы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Веб, Десктоп (Wails), REST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Размер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37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~15-20 МБ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486399"/>
            <a:ext cx="100584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5778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Лицензия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5778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MIT (бесплатно)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53"/>
                </a:solidFill>
              </a:defRPr>
            </a:pPr>
            <a:r>
              <a:t>Преимущества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Все-в-одном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Единый сервер для мониторинга, связи и анализа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828800"/>
            <a:ext cx="3200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Meshtastic нативно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Полная интеграция с публичной MQTT сетью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3200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LoRa без интернета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Работает вдали от инфраструктуры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3200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ML на борту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Встроенные алгоритмы аномалий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114800"/>
            <a:ext cx="3200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Мульти-транспорт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029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USB, Bluetooth, WiFi, MQTT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114800"/>
            <a:ext cx="32004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</a:defRPr>
            </a:pPr>
            <a:r>
              <a:t>Открытый код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029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MIT лицензия — бесплатное использование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t>Архитектура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82880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ESP32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LoRa + 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828800"/>
            <a:ext cx="182880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560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Bluetooth</a:t>
            </a:r>
            <a:br/>
            <a:r>
              <a:t>WiFi Scan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743200"/>
            <a:ext cx="182880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Mesh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Go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2743200"/>
            <a:ext cx="182880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029200"/>
            <a:ext cx="182880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Web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HTML/JS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5029200"/>
            <a:ext cx="182880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Desktop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Wails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5029200"/>
            <a:ext cx="182880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MQTT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Meshtastic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t>Стадия готовности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853"/>
                </a:solidFill>
              </a:defRPr>
            </a:pPr>
            <a:r>
              <a:t>Готов к демонстрации и тестированию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00C853"/>
                </a:solidFill>
              </a:defRPr>
            </a:pPr>
            <a:r>
              <a:t>  Веб-интерфейс — Готово</a:t>
            </a:r>
          </a:p>
          <a:p>
            <a:pPr>
              <a:spcBef>
                <a:spcPts val="400"/>
              </a:spcBef>
              <a:defRPr sz="1800">
                <a:solidFill>
                  <a:srgbClr val="00C853"/>
                </a:solidFill>
              </a:defRPr>
            </a:pPr>
            <a:r>
              <a:t>  Десктопное приложение (Wails) — Готово</a:t>
            </a:r>
          </a:p>
          <a:p>
            <a:pPr>
              <a:spcBef>
                <a:spcPts val="400"/>
              </a:spcBef>
              <a:defRPr sz="1800">
                <a:solidFill>
                  <a:srgbClr val="00C853"/>
                </a:solidFill>
              </a:defRPr>
            </a:pPr>
            <a:r>
              <a:t>  REST API (полный набор) — Готово</a:t>
            </a:r>
          </a:p>
          <a:p>
            <a:pPr>
              <a:spcBef>
                <a:spcPts val="400"/>
              </a:spcBef>
              <a:defRPr sz="1800">
                <a:solidFill>
                  <a:srgbClr val="00C853"/>
                </a:solidFill>
              </a:defRPr>
            </a:pPr>
            <a:r>
              <a:t>  MQTT интеграция — Готово</a:t>
            </a:r>
          </a:p>
          <a:p>
            <a:pPr>
              <a:spcBef>
                <a:spcPts val="400"/>
              </a:spcBef>
              <a:defRPr sz="1800">
                <a:solidFill>
                  <a:srgbClr val="00C853"/>
                </a:solidFill>
              </a:defRPr>
            </a:pPr>
            <a:r>
              <a:t>  Bluetooth/WiFi Discovery — Готово</a:t>
            </a:r>
          </a:p>
          <a:p>
            <a:pPr>
              <a:spcBef>
                <a:spcPts val="400"/>
              </a:spcBef>
              <a:defRPr sz="1800">
                <a:solidFill>
                  <a:srgbClr val="00C853"/>
                </a:solidFill>
              </a:defRPr>
            </a:pPr>
            <a:r>
              <a:t>  ML компоненты — Готово</a:t>
            </a:r>
          </a:p>
          <a:p>
            <a:pPr>
              <a:spcBef>
                <a:spcPts val="400"/>
              </a:spcBef>
              <a:defRPr sz="1800">
                <a:solidFill>
                  <a:srgbClr val="00C853"/>
                </a:solidFill>
              </a:defRPr>
            </a:pPr>
            <a:r>
              <a:t>  Документация — Готово</a:t>
            </a:r>
          </a:p>
          <a:p>
            <a:pPr>
              <a:spcBef>
                <a:spcPts val="400"/>
              </a:spcBef>
              <a:defRPr sz="1800">
                <a:solidFill>
                  <a:srgbClr val="00C853"/>
                </a:solidFill>
              </a:defRPr>
            </a:pPr>
            <a:r>
              <a:t>  Демо-режим — Готово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</a:defRPr>
            </a:pPr>
            <a:r>
              <a:t>Mesh Server — ваш мониторинг mesh-сетей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B35"/>
                </a:solidFill>
              </a:defRPr>
            </a:pPr>
            <a:r>
              <a:t>GitHub: open source  | 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